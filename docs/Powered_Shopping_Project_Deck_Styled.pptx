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103745" cy="10234295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Left Panel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53B6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Label"/>
          <p:cNvSpPr/>
          <p:nvPr/>
        </p:nvSpPr>
        <p:spPr>
          <a:xfrm>
            <a:off x="594360" y="621792"/>
            <a:ext cx="1554480" cy="384048"/>
          </a:xfrm>
          <a:prstGeom prst="roundRect">
            <a:avLst/>
          </a:prstGeom>
          <a:solidFill>
            <a:srgbClr val="F29C38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</a:rPr>
              <a:t>INT428 PROJECT DECK</a:t>
            </a:r>
            <a:endParaRPr lang="en-US" sz="125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594360" y="1234440"/>
            <a:ext cx="4572000" cy="146304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600" b="1">
                <a:solidFill>
                  <a:srgbClr val="FFFFFF"/>
                </a:solidFill>
                <a:latin typeface="Calibri Light"/>
                <a:ea typeface="Calibri Light"/>
              </a:rPr>
              <a:t>Powered Shopping</a:t>
            </a:r>
            <a:endParaRPr lang="en-US" sz="2600" b="1">
              <a:solidFill>
                <a:srgbClr val="FFFFFF"/>
              </a:solidFill>
              <a:latin typeface="Calibri Light"/>
              <a:ea typeface="Calibri Light"/>
            </a:endParaRPr>
          </a:p>
          <a:p>
            <a:pPr algn="l">
              <a:buNone/>
            </a:pPr>
            <a:r>
              <a:rPr lang="en-US" sz="2600" b="1">
                <a:solidFill>
                  <a:srgbClr val="FFFFFF"/>
                </a:solidFill>
                <a:latin typeface="Calibri Light"/>
                <a:ea typeface="Calibri Light"/>
              </a:rPr>
              <a:t>Voice-powered AI shopping concierge</a:t>
            </a:r>
            <a:endParaRPr lang="en-US" sz="2600" b="1">
              <a:solidFill>
                <a:srgbClr val="FFFFFF"/>
              </a:solidFill>
              <a:latin typeface="Calibri Light"/>
              <a:ea typeface="Calibri Light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12648" y="2788920"/>
            <a:ext cx="4663440" cy="9144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450">
                <a:solidFill>
                  <a:srgbClr val="DCEAF7"/>
                </a:solidFill>
                <a:latin typeface="Calibri"/>
                <a:ea typeface="Calibri"/>
              </a:rPr>
              <a:t>A redesigned presentation built from the live codebase,</a:t>
            </a:r>
            <a:endParaRPr lang="en-US" sz="1450">
              <a:solidFill>
                <a:srgbClr val="DCEAF7"/>
              </a:solidFill>
              <a:latin typeface="Calibri"/>
              <a:ea typeface="Calibri"/>
            </a:endParaRPr>
          </a:p>
          <a:p>
            <a:pPr algn="l">
              <a:buNone/>
            </a:pPr>
            <a:r>
              <a:rPr lang="en-US" sz="1450">
                <a:solidFill>
                  <a:srgbClr val="DCEAF7"/>
                </a:solidFill>
                <a:latin typeface="Calibri"/>
                <a:ea typeface="Calibri"/>
              </a:rPr>
              <a:t>with format cues borrowed from the INT428 manual and patent template.</a:t>
            </a:r>
            <a:endParaRPr lang="en-US" sz="1450">
              <a:solidFill>
                <a:srgbClr val="DCEAF7"/>
              </a:solidFill>
              <a:latin typeface="Calibri"/>
              <a:ea typeface="Calibri"/>
            </a:endParaRPr>
          </a:p>
        </p:txBody>
      </p:sp>
      <p:sp>
        <p:nvSpPr>
          <p:cNvPr id="7" name="Chip 1"/>
          <p:cNvSpPr/>
          <p:nvPr/>
        </p:nvSpPr>
        <p:spPr>
          <a:xfrm>
            <a:off x="612648" y="5257800"/>
            <a:ext cx="1389888" cy="475488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9D2EB"/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React + Vite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8" name="Chip 2"/>
          <p:cNvSpPr/>
          <p:nvPr/>
        </p:nvSpPr>
        <p:spPr>
          <a:xfrm>
            <a:off x="2185416" y="5257800"/>
            <a:ext cx="1389888" cy="475488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9D2EB"/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Express + Firebase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9" name="Chip 3"/>
          <p:cNvSpPr/>
          <p:nvPr/>
        </p:nvSpPr>
        <p:spPr>
          <a:xfrm>
            <a:off x="3758184" y="5257800"/>
            <a:ext cx="1389888" cy="475488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9D2EB"/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OpenAI + Voice UX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0" name="Screenshot Frame"/>
          <p:cNvSpPr/>
          <p:nvPr/>
        </p:nvSpPr>
        <p:spPr>
          <a:xfrm>
            <a:off x="6400800" y="640080"/>
            <a:ext cx="51206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1" name="Caption"/>
          <p:cNvSpPr txBox="1"/>
          <p:nvPr/>
        </p:nvSpPr>
        <p:spPr>
          <a:xfrm>
            <a:off x="6583680" y="5440680"/>
            <a:ext cx="4663440" cy="384048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ctr">
              <a:buNone/>
            </a:pPr>
            <a:r>
              <a:rPr lang="en-US" sz="1200">
                <a:solidFill>
                  <a:srgbClr val="617489"/>
                </a:solidFill>
                <a:latin typeface="Calibri"/>
                <a:ea typeface="Calibri"/>
              </a:rPr>
              <a:t>Live application snapshot used as presentation evidence</a:t>
            </a:r>
            <a:endParaRPr lang="en-US" sz="1200">
              <a:solidFill>
                <a:srgbClr val="617489"/>
              </a:solidFill>
              <a:latin typeface="Calibri"/>
              <a:ea typeface="Calibri"/>
            </a:endParaRPr>
          </a:p>
        </p:txBody>
      </p:sp>
      <p:pic>
        <p:nvPicPr>
          <p:cNvPr id="12" name="Desktop UI" descr="Desktop 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68680"/>
            <a:ext cx="48006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op Bar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53B6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548640" y="749808"/>
            <a:ext cx="4297680" cy="50292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400" b="1">
                <a:solidFill>
                  <a:srgbClr val="0F2744"/>
                </a:solidFill>
                <a:latin typeface="Calibri Light"/>
                <a:ea typeface="Calibri Light"/>
              </a:rPr>
              <a:t>Problem, Objective, Novelty, Advantage</a:t>
            </a:r>
            <a:endParaRPr lang="en-US" sz="24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5" name="Card 1"/>
          <p:cNvSpPr/>
          <p:nvPr/>
        </p:nvSpPr>
        <p:spPr>
          <a:xfrm>
            <a:off x="658368" y="1554480"/>
            <a:ext cx="4663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6" name="Label 1"/>
          <p:cNvSpPr/>
          <p:nvPr/>
        </p:nvSpPr>
        <p:spPr>
          <a:xfrm>
            <a:off x="859536" y="1737360"/>
            <a:ext cx="1170432" cy="384048"/>
          </a:xfrm>
          <a:prstGeom prst="roundRect">
            <a:avLst/>
          </a:prstGeom>
          <a:solidFill>
            <a:srgbClr val="F29C38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PROBLEM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7" name="Body 1"/>
          <p:cNvSpPr txBox="1"/>
          <p:nvPr/>
        </p:nvSpPr>
        <p:spPr>
          <a:xfrm>
            <a:off x="886968" y="2286000"/>
            <a:ext cx="4160520" cy="59436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500">
                <a:solidFill>
                  <a:srgbClr val="0F2744"/>
                </a:solidFill>
                <a:latin typeface="Calibri"/>
                <a:ea typeface="Calibri"/>
              </a:rPr>
              <a:t>Online shopping is crowded, manual, and not voice-native.</a:t>
            </a:r>
            <a:endParaRPr lang="en-US" sz="15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8" name="Card 2"/>
          <p:cNvSpPr/>
          <p:nvPr/>
        </p:nvSpPr>
        <p:spPr>
          <a:xfrm>
            <a:off x="6172200" y="1554480"/>
            <a:ext cx="4663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9" name="Label 2"/>
          <p:cNvSpPr/>
          <p:nvPr/>
        </p:nvSpPr>
        <p:spPr>
          <a:xfrm>
            <a:off x="6373368" y="1737360"/>
            <a:ext cx="1170432" cy="384048"/>
          </a:xfrm>
          <a:prstGeom prst="roundRect">
            <a:avLst/>
          </a:prstGeom>
          <a:solidFill>
            <a:srgbClr val="1FA6C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OBJECTIVE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0" name="Body 2"/>
          <p:cNvSpPr txBox="1"/>
          <p:nvPr/>
        </p:nvSpPr>
        <p:spPr>
          <a:xfrm>
            <a:off x="6400800" y="2286000"/>
            <a:ext cx="4160520" cy="59436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500">
                <a:solidFill>
                  <a:srgbClr val="0F2744"/>
                </a:solidFill>
                <a:latin typeface="Calibri"/>
                <a:ea typeface="Calibri"/>
              </a:rPr>
              <a:t>Let users search, recommend, add, and checkout through natural commands.</a:t>
            </a:r>
            <a:endParaRPr lang="en-US" sz="15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1" name="Card 3"/>
          <p:cNvSpPr/>
          <p:nvPr/>
        </p:nvSpPr>
        <p:spPr>
          <a:xfrm>
            <a:off x="658368" y="3657600"/>
            <a:ext cx="4663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2" name="Label 3"/>
          <p:cNvSpPr/>
          <p:nvPr/>
        </p:nvSpPr>
        <p:spPr>
          <a:xfrm>
            <a:off x="859536" y="3840480"/>
            <a:ext cx="1170432" cy="384048"/>
          </a:xfrm>
          <a:prstGeom prst="roundRect">
            <a:avLst/>
          </a:prstGeom>
          <a:solidFill>
            <a:srgbClr val="E65B8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NOVELTY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3" name="Body 3"/>
          <p:cNvSpPr txBox="1"/>
          <p:nvPr/>
        </p:nvSpPr>
        <p:spPr>
          <a:xfrm>
            <a:off x="886968" y="4389120"/>
            <a:ext cx="4160520" cy="59436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500">
                <a:solidFill>
                  <a:srgbClr val="0F2744"/>
                </a:solidFill>
                <a:latin typeface="Calibri"/>
                <a:ea typeface="Calibri"/>
              </a:rPr>
              <a:t>AI tool-calling is paired with deterministic fallbacks and voice recovery.</a:t>
            </a:r>
            <a:endParaRPr lang="en-US" sz="15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4" name="Card 4"/>
          <p:cNvSpPr/>
          <p:nvPr/>
        </p:nvSpPr>
        <p:spPr>
          <a:xfrm>
            <a:off x="6172200" y="3657600"/>
            <a:ext cx="4663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5" name="Label 4"/>
          <p:cNvSpPr/>
          <p:nvPr/>
        </p:nvSpPr>
        <p:spPr>
          <a:xfrm>
            <a:off x="6373368" y="3840480"/>
            <a:ext cx="1170432" cy="384048"/>
          </a:xfrm>
          <a:prstGeom prst="roundRect">
            <a:avLst/>
          </a:prstGeom>
          <a:solidFill>
            <a:srgbClr val="7ABD42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ADVANTAGE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6" name="Body 4"/>
          <p:cNvSpPr txBox="1"/>
          <p:nvPr/>
        </p:nvSpPr>
        <p:spPr>
          <a:xfrm>
            <a:off x="6400800" y="4389120"/>
            <a:ext cx="4160520" cy="59436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500">
                <a:solidFill>
                  <a:srgbClr val="0F2744"/>
                </a:solidFill>
                <a:latin typeface="Calibri"/>
                <a:ea typeface="Calibri"/>
              </a:rPr>
              <a:t>The system still works when APIs, speech services, or Firestore fail.</a:t>
            </a:r>
            <a:endParaRPr lang="en-US" sz="15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7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02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3291840" cy="457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300" b="1">
                <a:solidFill>
                  <a:srgbClr val="0F2744"/>
                </a:solidFill>
                <a:latin typeface="Calibri Light"/>
                <a:ea typeface="Calibri Light"/>
              </a:rPr>
              <a:t>Scope and project fit</a:t>
            </a:r>
            <a:endParaRPr lang="en-US" sz="23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4" name="Mandatory Panel"/>
          <p:cNvSpPr/>
          <p:nvPr/>
        </p:nvSpPr>
        <p:spPr>
          <a:xfrm>
            <a:off x="548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5" name="Mandatory Label"/>
          <p:cNvSpPr/>
          <p:nvPr/>
        </p:nvSpPr>
        <p:spPr>
          <a:xfrm>
            <a:off x="749808" y="1572768"/>
            <a:ext cx="1737360" cy="384048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MANDATORY FIT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" name="Mandatory Item 1"/>
          <p:cNvSpPr/>
          <p:nvPr/>
        </p:nvSpPr>
        <p:spPr>
          <a:xfrm>
            <a:off x="841248" y="2148840"/>
            <a:ext cx="4617720" cy="45720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350">
                <a:solidFill>
                  <a:srgbClr val="0F2744"/>
                </a:solidFill>
                <a:latin typeface="Calibri"/>
                <a:ea typeface="Calibri"/>
              </a:rPr>
              <a:t>Clear domain: e-commerce voice shopping assistant</a:t>
            </a:r>
            <a:endParaRPr lang="en-US" sz="13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7" name="Mandatory Item 2"/>
          <p:cNvSpPr/>
          <p:nvPr/>
        </p:nvSpPr>
        <p:spPr>
          <a:xfrm>
            <a:off x="841248" y="2898648"/>
            <a:ext cx="4617720" cy="45720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350">
                <a:solidFill>
                  <a:srgbClr val="0F2744"/>
                </a:solidFill>
                <a:latin typeface="Calibri"/>
                <a:ea typeface="Calibri"/>
              </a:rPr>
              <a:t>Uses Generative AI API for assistant chat and transcription</a:t>
            </a:r>
            <a:endParaRPr lang="en-US" sz="13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8" name="Mandatory Item 3"/>
          <p:cNvSpPr/>
          <p:nvPr/>
        </p:nvSpPr>
        <p:spPr>
          <a:xfrm>
            <a:off x="841248" y="3648456"/>
            <a:ext cx="4617720" cy="45720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350">
                <a:solidFill>
                  <a:srgbClr val="0F2744"/>
                </a:solidFill>
                <a:latin typeface="Calibri"/>
                <a:ea typeface="Calibri"/>
              </a:rPr>
              <a:t>Domain-constrained tools: products, cart, checkout, recommendations</a:t>
            </a:r>
            <a:endParaRPr lang="en-US" sz="13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9" name="Mandatory Item 4"/>
          <p:cNvSpPr/>
          <p:nvPr/>
        </p:nvSpPr>
        <p:spPr>
          <a:xfrm>
            <a:off x="841248" y="4398264"/>
            <a:ext cx="4617720" cy="45720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350">
                <a:solidFill>
                  <a:srgbClr val="0F2744"/>
                </a:solidFill>
                <a:latin typeface="Calibri"/>
                <a:ea typeface="Calibri"/>
              </a:rPr>
              <a:t>Working prototype with frontend and backend</a:t>
            </a:r>
            <a:endParaRPr lang="en-US" sz="13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0" name="Enhancement Panel"/>
          <p:cNvSpPr/>
          <p:nvPr/>
        </p:nvSpPr>
        <p:spPr>
          <a:xfrm>
            <a:off x="6217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1" name="Optional Label"/>
          <p:cNvSpPr/>
          <p:nvPr/>
        </p:nvSpPr>
        <p:spPr>
          <a:xfrm>
            <a:off x="6419088" y="1572768"/>
            <a:ext cx="2057400" cy="384048"/>
          </a:xfrm>
          <a:prstGeom prst="roundRect">
            <a:avLst/>
          </a:prstGeom>
          <a:solidFill>
            <a:srgbClr val="1FA6C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OPTIONAL WINS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2" name="Optional Item 1"/>
          <p:cNvSpPr/>
          <p:nvPr/>
        </p:nvSpPr>
        <p:spPr>
          <a:xfrm>
            <a:off x="6510528" y="2148840"/>
            <a:ext cx="4617720" cy="45720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350">
                <a:solidFill>
                  <a:srgbClr val="0F2744"/>
                </a:solidFill>
                <a:latin typeface="Calibri"/>
                <a:ea typeface="Calibri"/>
              </a:rPr>
              <a:t>Session memory through history and last-category recall</a:t>
            </a:r>
            <a:endParaRPr lang="en-US" sz="13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3" name="Optional Item 2"/>
          <p:cNvSpPr/>
          <p:nvPr/>
        </p:nvSpPr>
        <p:spPr>
          <a:xfrm>
            <a:off x="6510528" y="2898648"/>
            <a:ext cx="4617720" cy="45720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350">
                <a:solidFill>
                  <a:srgbClr val="0F2744"/>
                </a:solidFill>
                <a:latin typeface="Calibri"/>
                <a:ea typeface="Calibri"/>
              </a:rPr>
              <a:t>Voice fallback recording when browser speech fails</a:t>
            </a:r>
            <a:endParaRPr lang="en-US" sz="13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4" name="Optional Item 3"/>
          <p:cNvSpPr/>
          <p:nvPr/>
        </p:nvSpPr>
        <p:spPr>
          <a:xfrm>
            <a:off x="6510528" y="3648456"/>
            <a:ext cx="4617720" cy="45720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350">
                <a:solidFill>
                  <a:srgbClr val="0F2744"/>
                </a:solidFill>
                <a:latin typeface="Calibri"/>
                <a:ea typeface="Calibri"/>
              </a:rPr>
              <a:t>Firebase authentication and optional Firestore cart persistence</a:t>
            </a:r>
            <a:endParaRPr lang="en-US" sz="13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5" name="Optional Item 4"/>
          <p:cNvSpPr/>
          <p:nvPr/>
        </p:nvSpPr>
        <p:spPr>
          <a:xfrm>
            <a:off x="6510528" y="4398264"/>
            <a:ext cx="4617720" cy="45720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350">
                <a:solidFill>
                  <a:srgbClr val="0F2744"/>
                </a:solidFill>
                <a:latin typeface="Calibri"/>
                <a:ea typeface="Calibri"/>
              </a:rPr>
              <a:t>Responsive UI already visible on desktop and mobile</a:t>
            </a:r>
            <a:endParaRPr lang="en-US" sz="13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6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03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30352" y="658368"/>
            <a:ext cx="3657600" cy="457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300" b="1">
                <a:solidFill>
                  <a:srgbClr val="0F2744"/>
                </a:solidFill>
                <a:latin typeface="Calibri Light"/>
                <a:ea typeface="Calibri Light"/>
              </a:rPr>
              <a:t>Development stages</a:t>
            </a:r>
            <a:endParaRPr lang="en-US" sz="23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4" name="Narrative Panel"/>
          <p:cNvSpPr/>
          <p:nvPr/>
        </p:nvSpPr>
        <p:spPr>
          <a:xfrm>
            <a:off x="566928" y="1417320"/>
            <a:ext cx="4160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5" name="Stage 1"/>
          <p:cNvSpPr/>
          <p:nvPr/>
        </p:nvSpPr>
        <p:spPr>
          <a:xfrm>
            <a:off x="822960" y="1783080"/>
            <a:ext cx="3657600" cy="438912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F2744"/>
                </a:solidFill>
                <a:latin typeface="Calibri"/>
                <a:ea typeface="Calibri"/>
              </a:rPr>
              <a:t>01  Problem identification</a:t>
            </a:r>
            <a:endParaRPr lang="en-US" sz="1400" b="1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6" name="Stage 2"/>
          <p:cNvSpPr/>
          <p:nvPr/>
        </p:nvSpPr>
        <p:spPr>
          <a:xfrm>
            <a:off x="822960" y="2532888"/>
            <a:ext cx="3657600" cy="438912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400">
                <a:solidFill>
                  <a:srgbClr val="0F2744"/>
                </a:solidFill>
                <a:latin typeface="Calibri"/>
                <a:ea typeface="Calibri"/>
              </a:rPr>
              <a:t>02  Domain knowledge and shopping intents</a:t>
            </a:r>
            <a:endParaRPr lang="en-US" sz="14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7" name="Stage 3"/>
          <p:cNvSpPr/>
          <p:nvPr/>
        </p:nvSpPr>
        <p:spPr>
          <a:xfrm>
            <a:off x="822960" y="3282696"/>
            <a:ext cx="3657600" cy="438912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400">
                <a:solidFill>
                  <a:srgbClr val="0F2744"/>
                </a:solidFill>
                <a:latin typeface="Calibri"/>
                <a:ea typeface="Calibri"/>
              </a:rPr>
              <a:t>03  API selection: OpenAI, Firebase, FakeStore</a:t>
            </a:r>
            <a:endParaRPr lang="en-US" sz="14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8" name="Stage 4"/>
          <p:cNvSpPr/>
          <p:nvPr/>
        </p:nvSpPr>
        <p:spPr>
          <a:xfrm>
            <a:off x="822960" y="4032504"/>
            <a:ext cx="3657600" cy="438912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400">
                <a:solidFill>
                  <a:srgbClr val="0F2744"/>
                </a:solidFill>
                <a:latin typeface="Calibri"/>
                <a:ea typeface="Calibri"/>
              </a:rPr>
              <a:t>04  Prompt control plus tool-calling workflow</a:t>
            </a:r>
            <a:endParaRPr lang="en-US" sz="14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9" name="Stage 5"/>
          <p:cNvSpPr/>
          <p:nvPr/>
        </p:nvSpPr>
        <p:spPr>
          <a:xfrm>
            <a:off x="822960" y="4782312"/>
            <a:ext cx="3657600" cy="438912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109728" tIns="0" rIns="73152" bIns="0">
            <a:spAutoFit/>
          </a:bodyPr>
          <a:lstStyle/>
          <a:p>
            <a:pPr algn="l">
              <a:buNone/>
            </a:pPr>
            <a:r>
              <a:rPr lang="en-US" sz="1400">
                <a:solidFill>
                  <a:srgbClr val="0F2744"/>
                </a:solidFill>
                <a:latin typeface="Calibri"/>
                <a:ea typeface="Calibri"/>
              </a:rPr>
              <a:t>05  Prototype, testing, and demo-ready evidence</a:t>
            </a:r>
            <a:endParaRPr lang="en-US" sz="14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0" name="Note"/>
          <p:cNvSpPr txBox="1"/>
          <p:nvPr/>
        </p:nvSpPr>
        <p:spPr>
          <a:xfrm>
            <a:off x="841248" y="5440680"/>
            <a:ext cx="3474720" cy="27432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Visual structure adapted from the uploaded INT428 manual.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  <p:sp>
        <p:nvSpPr>
          <p:cNvPr id="11" name="Image Frame"/>
          <p:cNvSpPr/>
          <p:nvPr/>
        </p:nvSpPr>
        <p:spPr>
          <a:xfrm>
            <a:off x="5303520" y="1188720"/>
            <a:ext cx="57150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2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04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  <p:pic>
        <p:nvPicPr>
          <p:cNvPr id="13" name="INT428 Process Flow" descr="INT428 Process 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417320"/>
            <a:ext cx="52578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30352" y="640080"/>
            <a:ext cx="3840480" cy="457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300" b="1">
                <a:solidFill>
                  <a:srgbClr val="0F2744"/>
                </a:solidFill>
                <a:latin typeface="Calibri Light"/>
                <a:ea typeface="Calibri Light"/>
              </a:rPr>
              <a:t>System architecture</a:t>
            </a:r>
            <a:endParaRPr lang="en-US" sz="23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4" name="Column 1"/>
          <p:cNvSpPr/>
          <p:nvPr/>
        </p:nvSpPr>
        <p:spPr>
          <a:xfrm>
            <a:off x="566928" y="1508760"/>
            <a:ext cx="2514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5" name="Column Label 1"/>
          <p:cNvSpPr/>
          <p:nvPr/>
        </p:nvSpPr>
        <p:spPr>
          <a:xfrm>
            <a:off x="731520" y="1719072"/>
            <a:ext cx="1261872" cy="365760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lang="en-US" sz="115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" name="Column 1 Item 1"/>
          <p:cNvSpPr/>
          <p:nvPr/>
        </p:nvSpPr>
        <p:spPr>
          <a:xfrm>
            <a:off x="731520" y="2331720"/>
            <a:ext cx="2148840" cy="56692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React + Vite UI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7" name="Column 1 Item 2"/>
          <p:cNvSpPr/>
          <p:nvPr/>
        </p:nvSpPr>
        <p:spPr>
          <a:xfrm>
            <a:off x="731520" y="3172968"/>
            <a:ext cx="2148840" cy="566928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Voice + text command entry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8" name="Column 1 Item 3"/>
          <p:cNvSpPr/>
          <p:nvPr/>
        </p:nvSpPr>
        <p:spPr>
          <a:xfrm>
            <a:off x="731520" y="4014215"/>
            <a:ext cx="2148840" cy="56692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Firebase auth gate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9" name="Arrow Line 1"/>
          <p:cNvSpPr/>
          <p:nvPr/>
        </p:nvSpPr>
        <p:spPr>
          <a:xfrm>
            <a:off x="3108960" y="3063240"/>
            <a:ext cx="201168" cy="109728"/>
          </a:xfrm>
          <a:prstGeom prst="rect">
            <a:avLst/>
          </a:prstGeom>
          <a:solidFill>
            <a:srgbClr val="586B8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10" name="Arrow Head 1"/>
          <p:cNvSpPr/>
          <p:nvPr/>
        </p:nvSpPr>
        <p:spPr>
          <a:xfrm>
            <a:off x="3282696" y="2990088"/>
            <a:ext cx="146304" cy="256032"/>
          </a:xfrm>
          <a:prstGeom prst="chevron">
            <a:avLst/>
          </a:prstGeom>
          <a:solidFill>
            <a:srgbClr val="586B8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11" name="Column 2"/>
          <p:cNvSpPr/>
          <p:nvPr/>
        </p:nvSpPr>
        <p:spPr>
          <a:xfrm>
            <a:off x="3429000" y="1508760"/>
            <a:ext cx="2514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2" name="Column Label 2"/>
          <p:cNvSpPr/>
          <p:nvPr/>
        </p:nvSpPr>
        <p:spPr>
          <a:xfrm>
            <a:off x="3593592" y="1719072"/>
            <a:ext cx="1261872" cy="365760"/>
          </a:xfrm>
          <a:prstGeom prst="roundRect">
            <a:avLst/>
          </a:prstGeom>
          <a:solidFill>
            <a:srgbClr val="1FA6C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</a:rPr>
              <a:t>BACKEND</a:t>
            </a:r>
            <a:endParaRPr lang="en-US" sz="115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3" name="Column 2 Item 1"/>
          <p:cNvSpPr/>
          <p:nvPr/>
        </p:nvSpPr>
        <p:spPr>
          <a:xfrm>
            <a:off x="3593592" y="2331720"/>
            <a:ext cx="2148840" cy="56692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Express routes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4" name="Column 2 Item 2"/>
          <p:cNvSpPr/>
          <p:nvPr/>
        </p:nvSpPr>
        <p:spPr>
          <a:xfrm>
            <a:off x="3593592" y="3172968"/>
            <a:ext cx="2148840" cy="566928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Controllers + services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5" name="Column 2 Item 3"/>
          <p:cNvSpPr/>
          <p:nvPr/>
        </p:nvSpPr>
        <p:spPr>
          <a:xfrm>
            <a:off x="3593592" y="4014215"/>
            <a:ext cx="2148840" cy="56692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Standardized API responses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6" name="Arrow Line 2"/>
          <p:cNvSpPr/>
          <p:nvPr/>
        </p:nvSpPr>
        <p:spPr>
          <a:xfrm>
            <a:off x="5971031" y="3063240"/>
            <a:ext cx="201168" cy="109728"/>
          </a:xfrm>
          <a:prstGeom prst="rect">
            <a:avLst/>
          </a:prstGeom>
          <a:solidFill>
            <a:srgbClr val="586B8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17" name="Arrow Head 2"/>
          <p:cNvSpPr/>
          <p:nvPr/>
        </p:nvSpPr>
        <p:spPr>
          <a:xfrm>
            <a:off x="6144768" y="2990088"/>
            <a:ext cx="146304" cy="256032"/>
          </a:xfrm>
          <a:prstGeom prst="chevron">
            <a:avLst/>
          </a:prstGeom>
          <a:solidFill>
            <a:srgbClr val="586B8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18" name="Column 3"/>
          <p:cNvSpPr/>
          <p:nvPr/>
        </p:nvSpPr>
        <p:spPr>
          <a:xfrm>
            <a:off x="6291072" y="1508760"/>
            <a:ext cx="2514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9" name="Column Label 3"/>
          <p:cNvSpPr/>
          <p:nvPr/>
        </p:nvSpPr>
        <p:spPr>
          <a:xfrm>
            <a:off x="6455664" y="1719072"/>
            <a:ext cx="1261872" cy="365760"/>
          </a:xfrm>
          <a:prstGeom prst="roundRect">
            <a:avLst/>
          </a:prstGeom>
          <a:solidFill>
            <a:srgbClr val="E65B8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</a:rPr>
              <a:t>AI LAYER</a:t>
            </a:r>
            <a:endParaRPr lang="en-US" sz="115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20" name="Column 3 Item 1"/>
          <p:cNvSpPr/>
          <p:nvPr/>
        </p:nvSpPr>
        <p:spPr>
          <a:xfrm>
            <a:off x="6455664" y="2331720"/>
            <a:ext cx="2148840" cy="56692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Tool-calling assistant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21" name="Column 3 Item 2"/>
          <p:cNvSpPr/>
          <p:nvPr/>
        </p:nvSpPr>
        <p:spPr>
          <a:xfrm>
            <a:off x="6455664" y="3172968"/>
            <a:ext cx="2148840" cy="566928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Whisper transcription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22" name="Column 3 Item 3"/>
          <p:cNvSpPr/>
          <p:nvPr/>
        </p:nvSpPr>
        <p:spPr>
          <a:xfrm>
            <a:off x="6455664" y="4014215"/>
            <a:ext cx="2148840" cy="56692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Deterministic parser fallback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23" name="Arrow Line 3"/>
          <p:cNvSpPr/>
          <p:nvPr/>
        </p:nvSpPr>
        <p:spPr>
          <a:xfrm>
            <a:off x="8833104" y="3063240"/>
            <a:ext cx="201168" cy="109728"/>
          </a:xfrm>
          <a:prstGeom prst="rect">
            <a:avLst/>
          </a:prstGeom>
          <a:solidFill>
            <a:srgbClr val="586B8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24" name="Arrow Head 3"/>
          <p:cNvSpPr/>
          <p:nvPr/>
        </p:nvSpPr>
        <p:spPr>
          <a:xfrm>
            <a:off x="9006840" y="2990088"/>
            <a:ext cx="146304" cy="256032"/>
          </a:xfrm>
          <a:prstGeom prst="chevron">
            <a:avLst/>
          </a:prstGeom>
          <a:solidFill>
            <a:srgbClr val="586B8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25" name="Column 4"/>
          <p:cNvSpPr/>
          <p:nvPr/>
        </p:nvSpPr>
        <p:spPr>
          <a:xfrm>
            <a:off x="9153144" y="1508760"/>
            <a:ext cx="2514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26" name="Column Label 4"/>
          <p:cNvSpPr/>
          <p:nvPr/>
        </p:nvSpPr>
        <p:spPr>
          <a:xfrm>
            <a:off x="9317736" y="1719072"/>
            <a:ext cx="1261872" cy="365760"/>
          </a:xfrm>
          <a:prstGeom prst="roundRect">
            <a:avLst/>
          </a:prstGeom>
          <a:solidFill>
            <a:srgbClr val="7ABD42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</a:rPr>
              <a:t>DATA</a:t>
            </a:r>
            <a:endParaRPr lang="en-US" sz="115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27" name="Column 4 Item 1"/>
          <p:cNvSpPr/>
          <p:nvPr/>
        </p:nvSpPr>
        <p:spPr>
          <a:xfrm>
            <a:off x="9317736" y="2331720"/>
            <a:ext cx="2148840" cy="56692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FakeStore + mock JSON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28" name="Column 4 Item 2"/>
          <p:cNvSpPr/>
          <p:nvPr/>
        </p:nvSpPr>
        <p:spPr>
          <a:xfrm>
            <a:off x="9317736" y="3172968"/>
            <a:ext cx="2148840" cy="566928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Firestore or memory cart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29" name="Column 4 Item 3"/>
          <p:cNvSpPr/>
          <p:nvPr/>
        </p:nvSpPr>
        <p:spPr>
          <a:xfrm>
            <a:off x="9317736" y="4014215"/>
            <a:ext cx="2148840" cy="56692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50">
                <a:solidFill>
                  <a:srgbClr val="0F2744"/>
                </a:solidFill>
                <a:latin typeface="Calibri"/>
                <a:ea typeface="Calibri"/>
              </a:rPr>
              <a:t>Browser storage preferences</a:t>
            </a:r>
            <a:endParaRPr lang="en-US" sz="125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30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05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30352" y="658368"/>
            <a:ext cx="3291840" cy="457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300" b="1">
                <a:solidFill>
                  <a:srgbClr val="0F2744"/>
                </a:solidFill>
                <a:latin typeface="Calibri Light"/>
                <a:ea typeface="Calibri Light"/>
              </a:rPr>
              <a:t>Core feature set</a:t>
            </a:r>
            <a:endParaRPr lang="en-US" sz="23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4" name="Feature Card 1"/>
          <p:cNvSpPr/>
          <p:nvPr/>
        </p:nvSpPr>
        <p:spPr>
          <a:xfrm>
            <a:off x="658368" y="1508760"/>
            <a:ext cx="331012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5" name="Feature Label 1"/>
          <p:cNvSpPr/>
          <p:nvPr/>
        </p:nvSpPr>
        <p:spPr>
          <a:xfrm>
            <a:off x="822959" y="1673351"/>
            <a:ext cx="1115568" cy="347472"/>
          </a:xfrm>
          <a:prstGeom prst="roundRect">
            <a:avLst/>
          </a:prstGeom>
          <a:solidFill>
            <a:srgbClr val="F29C38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Voice control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" name="Feature Body 1"/>
          <p:cNvSpPr txBox="1"/>
          <p:nvPr/>
        </p:nvSpPr>
        <p:spPr>
          <a:xfrm>
            <a:off x="841247" y="2167128"/>
            <a:ext cx="2788920" cy="566928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320">
                <a:solidFill>
                  <a:srgbClr val="0F2744"/>
                </a:solidFill>
                <a:latin typeface="Calibri"/>
                <a:ea typeface="Calibri"/>
              </a:rPr>
              <a:t>Live speech, continuous mode, and spoken replies.</a:t>
            </a:r>
            <a:endParaRPr lang="en-US" sz="132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7" name="Feature Card 2"/>
          <p:cNvSpPr/>
          <p:nvPr/>
        </p:nvSpPr>
        <p:spPr>
          <a:xfrm>
            <a:off x="4453128" y="1508760"/>
            <a:ext cx="331012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8" name="Feature Label 2"/>
          <p:cNvSpPr/>
          <p:nvPr/>
        </p:nvSpPr>
        <p:spPr>
          <a:xfrm>
            <a:off x="4617720" y="1673351"/>
            <a:ext cx="1115568" cy="347472"/>
          </a:xfrm>
          <a:prstGeom prst="roundRect">
            <a:avLst/>
          </a:prstGeom>
          <a:solidFill>
            <a:srgbClr val="1FA6C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Typed fallback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9" name="Feature Body 2"/>
          <p:cNvSpPr txBox="1"/>
          <p:nvPr/>
        </p:nvSpPr>
        <p:spPr>
          <a:xfrm>
            <a:off x="4636008" y="2167128"/>
            <a:ext cx="2788920" cy="566928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320">
                <a:solidFill>
                  <a:srgbClr val="0F2744"/>
                </a:solidFill>
                <a:latin typeface="Calibri"/>
                <a:ea typeface="Calibri"/>
              </a:rPr>
              <a:t>Manual commands and quick prompts for reliable demos.</a:t>
            </a:r>
            <a:endParaRPr lang="en-US" sz="132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0" name="Feature Card 3"/>
          <p:cNvSpPr/>
          <p:nvPr/>
        </p:nvSpPr>
        <p:spPr>
          <a:xfrm>
            <a:off x="8247888" y="1508760"/>
            <a:ext cx="331012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1" name="Feature Label 3"/>
          <p:cNvSpPr/>
          <p:nvPr/>
        </p:nvSpPr>
        <p:spPr>
          <a:xfrm>
            <a:off x="8412480" y="1673351"/>
            <a:ext cx="1115568" cy="347472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Smart catalog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2" name="Feature Body 3"/>
          <p:cNvSpPr txBox="1"/>
          <p:nvPr/>
        </p:nvSpPr>
        <p:spPr>
          <a:xfrm>
            <a:off x="8430768" y="2167128"/>
            <a:ext cx="2788920" cy="566928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320">
                <a:solidFill>
                  <a:srgbClr val="0F2744"/>
                </a:solidFill>
                <a:latin typeface="Calibri"/>
                <a:ea typeface="Calibri"/>
              </a:rPr>
              <a:t>Search by text, category, brand, price, and rating.</a:t>
            </a:r>
            <a:endParaRPr lang="en-US" sz="132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3" name="Feature Card 4"/>
          <p:cNvSpPr/>
          <p:nvPr/>
        </p:nvSpPr>
        <p:spPr>
          <a:xfrm>
            <a:off x="658368" y="3520440"/>
            <a:ext cx="331012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4" name="Feature Label 4"/>
          <p:cNvSpPr/>
          <p:nvPr/>
        </p:nvSpPr>
        <p:spPr>
          <a:xfrm>
            <a:off x="822959" y="3685032"/>
            <a:ext cx="1115568" cy="347472"/>
          </a:xfrm>
          <a:prstGeom prst="roundRect">
            <a:avLst/>
          </a:prstGeom>
          <a:solidFill>
            <a:srgbClr val="E65B8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Recommendations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5" name="Feature Body 4"/>
          <p:cNvSpPr txBox="1"/>
          <p:nvPr/>
        </p:nvSpPr>
        <p:spPr>
          <a:xfrm>
            <a:off x="841247" y="4178808"/>
            <a:ext cx="2788920" cy="566928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320">
                <a:solidFill>
                  <a:srgbClr val="0F2744"/>
                </a:solidFill>
                <a:latin typeface="Calibri"/>
                <a:ea typeface="Calibri"/>
              </a:rPr>
              <a:t>Trending and similar suggestions from the backend.</a:t>
            </a:r>
            <a:endParaRPr lang="en-US" sz="132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6" name="Feature Card 5"/>
          <p:cNvSpPr/>
          <p:nvPr/>
        </p:nvSpPr>
        <p:spPr>
          <a:xfrm>
            <a:off x="4453128" y="3520440"/>
            <a:ext cx="331012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7" name="Feature Label 5"/>
          <p:cNvSpPr/>
          <p:nvPr/>
        </p:nvSpPr>
        <p:spPr>
          <a:xfrm>
            <a:off x="4617720" y="3685032"/>
            <a:ext cx="1115568" cy="347472"/>
          </a:xfrm>
          <a:prstGeom prst="roundRect">
            <a:avLst/>
          </a:prstGeom>
          <a:solidFill>
            <a:srgbClr val="7ABD42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Cart + checkout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8" name="Feature Body 5"/>
          <p:cNvSpPr txBox="1"/>
          <p:nvPr/>
        </p:nvSpPr>
        <p:spPr>
          <a:xfrm>
            <a:off x="4636008" y="4178808"/>
            <a:ext cx="2788920" cy="566928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320">
                <a:solidFill>
                  <a:srgbClr val="0F2744"/>
                </a:solidFill>
                <a:latin typeface="Calibri"/>
                <a:ea typeface="Calibri"/>
              </a:rPr>
              <a:t>Add, remove, summarize, and simulate payment flow.</a:t>
            </a:r>
            <a:endParaRPr lang="en-US" sz="132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9" name="Feature Card 6"/>
          <p:cNvSpPr/>
          <p:nvPr/>
        </p:nvSpPr>
        <p:spPr>
          <a:xfrm>
            <a:off x="8247888" y="3520440"/>
            <a:ext cx="331012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20" name="Feature Label 6"/>
          <p:cNvSpPr/>
          <p:nvPr/>
        </p:nvSpPr>
        <p:spPr>
          <a:xfrm>
            <a:off x="8412480" y="3685032"/>
            <a:ext cx="1115568" cy="347472"/>
          </a:xfrm>
          <a:prstGeom prst="roundRect">
            <a:avLst/>
          </a:prstGeom>
          <a:solidFill>
            <a:srgbClr val="586B8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Resilience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21" name="Feature Body 6"/>
          <p:cNvSpPr txBox="1"/>
          <p:nvPr/>
        </p:nvSpPr>
        <p:spPr>
          <a:xfrm>
            <a:off x="8430768" y="4178808"/>
            <a:ext cx="2788920" cy="566928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320">
                <a:solidFill>
                  <a:srgbClr val="0F2744"/>
                </a:solidFill>
                <a:latin typeface="Calibri"/>
                <a:ea typeface="Calibri"/>
              </a:rPr>
              <a:t>Mock data, in-memory cart, and local parser fallback.</a:t>
            </a:r>
            <a:endParaRPr lang="en-US" sz="132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22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06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30352" y="658368"/>
            <a:ext cx="4754880" cy="457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300" b="1">
                <a:solidFill>
                  <a:srgbClr val="0F2744"/>
                </a:solidFill>
                <a:latin typeface="Calibri Light"/>
                <a:ea typeface="Calibri Light"/>
              </a:rPr>
              <a:t>API, model, and runtime configuration</a:t>
            </a:r>
            <a:endParaRPr lang="en-US" sz="23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4" name="Left Panel"/>
          <p:cNvSpPr/>
          <p:nvPr/>
        </p:nvSpPr>
        <p:spPr>
          <a:xfrm>
            <a:off x="640080" y="150876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5" name="Right Panel"/>
          <p:cNvSpPr/>
          <p:nvPr/>
        </p:nvSpPr>
        <p:spPr>
          <a:xfrm>
            <a:off x="6035040" y="150876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6" name="Left Label"/>
          <p:cNvSpPr/>
          <p:nvPr/>
        </p:nvSpPr>
        <p:spPr>
          <a:xfrm>
            <a:off x="868680" y="1783080"/>
            <a:ext cx="4389120" cy="411480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LLM and assistant layer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7" name="Right Label"/>
          <p:cNvSpPr/>
          <p:nvPr/>
        </p:nvSpPr>
        <p:spPr>
          <a:xfrm>
            <a:off x="6263640" y="1783080"/>
            <a:ext cx="4389120" cy="411480"/>
          </a:xfrm>
          <a:prstGeom prst="roundRect">
            <a:avLst/>
          </a:prstGeom>
          <a:solidFill>
            <a:srgbClr val="1FA6C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System controls and fallbacks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8" name="Left Item 1"/>
          <p:cNvSpPr/>
          <p:nvPr/>
        </p:nvSpPr>
        <p:spPr>
          <a:xfrm>
            <a:off x="914400" y="2377440"/>
            <a:ext cx="4434840" cy="41148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OpenAI chat endpoint with tool-calling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9" name="Left Item 2"/>
          <p:cNvSpPr/>
          <p:nvPr/>
        </p:nvSpPr>
        <p:spPr>
          <a:xfrm>
            <a:off x="914400" y="3017520"/>
            <a:ext cx="4434840" cy="41148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Default chat model: gpt-4o-mini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0" name="Left Item 3"/>
          <p:cNvSpPr/>
          <p:nvPr/>
        </p:nvSpPr>
        <p:spPr>
          <a:xfrm>
            <a:off x="914400" y="3657600"/>
            <a:ext cx="4434840" cy="41148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Transcription model: whisper-1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1" name="Left Item 4"/>
          <p:cNvSpPr/>
          <p:nvPr/>
        </p:nvSpPr>
        <p:spPr>
          <a:xfrm>
            <a:off x="914400" y="4297679"/>
            <a:ext cx="4434840" cy="41148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Temperature explicitly set to 0.2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2" name="Left Item 5"/>
          <p:cNvSpPr/>
          <p:nvPr/>
        </p:nvSpPr>
        <p:spPr>
          <a:xfrm>
            <a:off x="914400" y="4937760"/>
            <a:ext cx="4434840" cy="41148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Server-side tool loop limit: 6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3" name="Right Item 1"/>
          <p:cNvSpPr/>
          <p:nvPr/>
        </p:nvSpPr>
        <p:spPr>
          <a:xfrm>
            <a:off x="6309360" y="2377440"/>
            <a:ext cx="4434840" cy="41148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Catalog timeout: 1200 ms before fallback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4" name="Right Item 2"/>
          <p:cNvSpPr/>
          <p:nvPr/>
        </p:nvSpPr>
        <p:spPr>
          <a:xfrm>
            <a:off x="6309360" y="3017520"/>
            <a:ext cx="4434840" cy="41148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Product cache TTL: 5 minutes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5" name="Right Item 3"/>
          <p:cNvSpPr/>
          <p:nvPr/>
        </p:nvSpPr>
        <p:spPr>
          <a:xfrm>
            <a:off x="6309360" y="3657600"/>
            <a:ext cx="4434840" cy="41148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Firestore cart if configured, memory cart otherwise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6" name="Right Item 4"/>
          <p:cNvSpPr/>
          <p:nvPr/>
        </p:nvSpPr>
        <p:spPr>
          <a:xfrm>
            <a:off x="6309360" y="4297679"/>
            <a:ext cx="4434840" cy="41148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Browser speech first, recorder fallback second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7" name="Right Item 5"/>
          <p:cNvSpPr/>
          <p:nvPr/>
        </p:nvSpPr>
        <p:spPr>
          <a:xfrm>
            <a:off x="6309360" y="4937760"/>
            <a:ext cx="4434840" cy="41148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Auth handled by Firebase email/password + Google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8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07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30352" y="658368"/>
            <a:ext cx="3657600" cy="457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300" b="1">
                <a:solidFill>
                  <a:srgbClr val="0F2744"/>
                </a:solidFill>
                <a:latin typeface="Calibri Light"/>
                <a:ea typeface="Calibri Light"/>
              </a:rPr>
              <a:t>Interface evidence</a:t>
            </a:r>
            <a:endParaRPr lang="en-US" sz="23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4" name="Desktop Frame"/>
          <p:cNvSpPr/>
          <p:nvPr/>
        </p:nvSpPr>
        <p:spPr>
          <a:xfrm>
            <a:off x="658368" y="1325880"/>
            <a:ext cx="7315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5" name="Mobile Frame"/>
          <p:cNvSpPr/>
          <p:nvPr/>
        </p:nvSpPr>
        <p:spPr>
          <a:xfrm>
            <a:off x="8183879" y="1874519"/>
            <a:ext cx="19933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6" name="UI Chip 1"/>
          <p:cNvSpPr/>
          <p:nvPr/>
        </p:nvSpPr>
        <p:spPr>
          <a:xfrm>
            <a:off x="777240" y="5532120"/>
            <a:ext cx="2011680" cy="384048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Auth-first flow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7" name="UI Chip 2"/>
          <p:cNvSpPr/>
          <p:nvPr/>
        </p:nvSpPr>
        <p:spPr>
          <a:xfrm>
            <a:off x="3108960" y="5532120"/>
            <a:ext cx="2011680" cy="384048"/>
          </a:xfrm>
          <a:prstGeom prst="roundRect">
            <a:avLst/>
          </a:prstGeom>
          <a:solidFill>
            <a:srgbClr val="1FA6C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Clean glass-style UI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8" name="UI Chip 3"/>
          <p:cNvSpPr/>
          <p:nvPr/>
        </p:nvSpPr>
        <p:spPr>
          <a:xfrm>
            <a:off x="5440679" y="5532120"/>
            <a:ext cx="2011680" cy="384048"/>
          </a:xfrm>
          <a:prstGeom prst="roundRect">
            <a:avLst/>
          </a:prstGeom>
          <a:solidFill>
            <a:srgbClr val="E65B8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Responsive mobile layout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9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08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  <p:pic>
        <p:nvPicPr>
          <p:cNvPr id="10" name="Desktop Screenshot" descr="Desktop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54480"/>
            <a:ext cx="6949440" cy="4069080"/>
          </a:xfrm>
          <a:prstGeom prst="rect">
            <a:avLst/>
          </a:prstGeom>
        </p:spPr>
      </p:pic>
      <p:pic>
        <p:nvPicPr>
          <p:cNvPr id="11" name="Mobile Screenshot" descr="Mobil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2029968"/>
            <a:ext cx="16916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30352" y="658368"/>
            <a:ext cx="3931920" cy="457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300" b="1">
                <a:solidFill>
                  <a:srgbClr val="0F2744"/>
                </a:solidFill>
                <a:latin typeface="Calibri Light"/>
                <a:ea typeface="Calibri Light"/>
              </a:rPr>
              <a:t>Stack and project scale</a:t>
            </a:r>
            <a:endParaRPr lang="en-US" sz="23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4" name="Stat 1"/>
          <p:cNvSpPr/>
          <p:nvPr/>
        </p:nvSpPr>
        <p:spPr>
          <a:xfrm>
            <a:off x="731520" y="1508760"/>
            <a:ext cx="2057400" cy="1051560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45720" rIns="0" bIns="0">
            <a:sp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46</a:t>
            </a:r>
            <a:endParaRPr lang="en-US" sz="2200" b="1">
              <a:solidFill>
                <a:srgbClr val="FFFFFF"/>
              </a:solidFill>
              <a:latin typeface="Calibri"/>
              <a:ea typeface="Calibri"/>
            </a:endParaRPr>
          </a:p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source files analyzed</a:t>
            </a:r>
            <a:endParaRPr lang="en-US" sz="2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5" name="Stat 2"/>
          <p:cNvSpPr/>
          <p:nvPr/>
        </p:nvSpPr>
        <p:spPr>
          <a:xfrm>
            <a:off x="3154680" y="1508760"/>
            <a:ext cx="2057400" cy="1051560"/>
          </a:xfrm>
          <a:prstGeom prst="roundRect">
            <a:avLst/>
          </a:prstGeom>
          <a:solidFill>
            <a:srgbClr val="F29C38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45720" rIns="0" bIns="0">
            <a:sp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10,211</a:t>
            </a:r>
            <a:endParaRPr lang="en-US" sz="1800" b="1">
              <a:solidFill>
                <a:srgbClr val="FFFFFF"/>
              </a:solidFill>
              <a:latin typeface="Calibri"/>
              <a:ea typeface="Calibri"/>
            </a:endParaRPr>
          </a:p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approximate lines analyzed</a:t>
            </a:r>
            <a:endParaRPr lang="en-US" sz="18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6" name="Stat 3"/>
          <p:cNvSpPr/>
          <p:nvPr/>
        </p:nvSpPr>
        <p:spPr>
          <a:xfrm>
            <a:off x="5577840" y="1508760"/>
            <a:ext cx="2057400" cy="1051560"/>
          </a:xfrm>
          <a:prstGeom prst="roundRect">
            <a:avLst/>
          </a:prstGeom>
          <a:solidFill>
            <a:srgbClr val="1FA6C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45720" rIns="0" bIns="0">
            <a:sp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800" b="1">
              <a:solidFill>
                <a:srgbClr val="FFFFFF"/>
              </a:solidFill>
              <a:latin typeface="Calibri"/>
              <a:ea typeface="Calibri"/>
            </a:endParaRPr>
          </a:p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major external integrations</a:t>
            </a:r>
            <a:endParaRPr lang="en-US" sz="18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7" name="Stack Card 1"/>
          <p:cNvSpPr/>
          <p:nvPr/>
        </p:nvSpPr>
        <p:spPr>
          <a:xfrm>
            <a:off x="749808" y="2971800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8" name="Stack Label 1"/>
          <p:cNvSpPr/>
          <p:nvPr/>
        </p:nvSpPr>
        <p:spPr>
          <a:xfrm>
            <a:off x="914400" y="3154680"/>
            <a:ext cx="960120" cy="329184"/>
          </a:xfrm>
          <a:prstGeom prst="roundRect">
            <a:avLst/>
          </a:prstGeom>
          <a:solidFill>
            <a:srgbClr val="1E4E8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Frontend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9" name="Stack Body 1"/>
          <p:cNvSpPr txBox="1"/>
          <p:nvPr/>
        </p:nvSpPr>
        <p:spPr>
          <a:xfrm>
            <a:off x="2011679" y="3118104"/>
            <a:ext cx="3154680" cy="41148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React 18, Vite 5, Firebase 11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0" name="Stack Card 2"/>
          <p:cNvSpPr/>
          <p:nvPr/>
        </p:nvSpPr>
        <p:spPr>
          <a:xfrm>
            <a:off x="6190488" y="2971800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1" name="Stack Label 2"/>
          <p:cNvSpPr/>
          <p:nvPr/>
        </p:nvSpPr>
        <p:spPr>
          <a:xfrm>
            <a:off x="6355080" y="3154680"/>
            <a:ext cx="960120" cy="329184"/>
          </a:xfrm>
          <a:prstGeom prst="roundRect">
            <a:avLst/>
          </a:prstGeom>
          <a:solidFill>
            <a:srgbClr val="1FA6C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Backend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2" name="Stack Body 2"/>
          <p:cNvSpPr txBox="1"/>
          <p:nvPr/>
        </p:nvSpPr>
        <p:spPr>
          <a:xfrm>
            <a:off x="7452360" y="3118104"/>
            <a:ext cx="3154680" cy="41148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Node.js, Express 4, firebase-admin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3" name="Stack Card 3"/>
          <p:cNvSpPr/>
          <p:nvPr/>
        </p:nvSpPr>
        <p:spPr>
          <a:xfrm>
            <a:off x="749808" y="4297680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4" name="Stack Label 3"/>
          <p:cNvSpPr/>
          <p:nvPr/>
        </p:nvSpPr>
        <p:spPr>
          <a:xfrm>
            <a:off x="914400" y="4480560"/>
            <a:ext cx="960120" cy="329184"/>
          </a:xfrm>
          <a:prstGeom prst="roundRect">
            <a:avLst/>
          </a:prstGeom>
          <a:solidFill>
            <a:srgbClr val="E65B8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5" name="Stack Body 3"/>
          <p:cNvSpPr txBox="1"/>
          <p:nvPr/>
        </p:nvSpPr>
        <p:spPr>
          <a:xfrm>
            <a:off x="2011679" y="4443984"/>
            <a:ext cx="3154680" cy="41148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Chat completions, Whisper, tool-calling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6" name="Stack Card 4"/>
          <p:cNvSpPr/>
          <p:nvPr/>
        </p:nvSpPr>
        <p:spPr>
          <a:xfrm>
            <a:off x="6190488" y="4297680"/>
            <a:ext cx="4709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17" name="Stack Label 4"/>
          <p:cNvSpPr/>
          <p:nvPr/>
        </p:nvSpPr>
        <p:spPr>
          <a:xfrm>
            <a:off x="6355080" y="4480560"/>
            <a:ext cx="960120" cy="329184"/>
          </a:xfrm>
          <a:prstGeom prst="roundRect">
            <a:avLst/>
          </a:prstGeom>
          <a:solidFill>
            <a:srgbClr val="7ABD42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Ops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8" name="Stack Body 4"/>
          <p:cNvSpPr txBox="1"/>
          <p:nvPr/>
        </p:nvSpPr>
        <p:spPr>
          <a:xfrm>
            <a:off x="7452360" y="4443984"/>
            <a:ext cx="3154680" cy="41148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280">
                <a:solidFill>
                  <a:srgbClr val="0F2744"/>
                </a:solidFill>
                <a:latin typeface="Calibri"/>
                <a:ea typeface="Calibri"/>
              </a:rPr>
              <a:t>npm dev flow, local env files, mock fallbacks</a:t>
            </a:r>
            <a:endParaRPr lang="en-US" sz="128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9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09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30352" y="658368"/>
            <a:ext cx="4754880" cy="457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300" b="1">
                <a:solidFill>
                  <a:srgbClr val="0F2744"/>
                </a:solidFill>
                <a:latin typeface="Calibri Light"/>
                <a:ea typeface="Calibri Light"/>
              </a:rPr>
              <a:t>Evaluation readiness and next actions</a:t>
            </a:r>
            <a:endParaRPr lang="en-US" sz="2300" b="1">
              <a:solidFill>
                <a:srgbClr val="0F2744"/>
              </a:solidFill>
              <a:latin typeface="Calibri Light"/>
              <a:ea typeface="Calibri Light"/>
            </a:endParaRPr>
          </a:p>
        </p:txBody>
      </p:sp>
      <p:sp>
        <p:nvSpPr>
          <p:cNvPr id="4" name="Strengths"/>
          <p:cNvSpPr/>
          <p:nvPr/>
        </p:nvSpPr>
        <p:spPr>
          <a:xfrm>
            <a:off x="658368" y="146304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5" name="Gaps"/>
          <p:cNvSpPr/>
          <p:nvPr/>
        </p:nvSpPr>
        <p:spPr>
          <a:xfrm>
            <a:off x="6144768" y="1463040"/>
            <a:ext cx="4983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B"/>
            </a:solidFill>
          </a:ln>
        </p:spPr>
        <p:txBody>
          <a:bodyPr/>
          <a:lstStyle/>
          <a:p/>
        </p:txBody>
      </p:sp>
      <p:sp>
        <p:nvSpPr>
          <p:cNvPr id="6" name="Strengths Label"/>
          <p:cNvSpPr/>
          <p:nvPr/>
        </p:nvSpPr>
        <p:spPr>
          <a:xfrm>
            <a:off x="868680" y="1700784"/>
            <a:ext cx="1463040" cy="365760"/>
          </a:xfrm>
          <a:prstGeom prst="roundRect">
            <a:avLst/>
          </a:prstGeom>
          <a:solidFill>
            <a:srgbClr val="7ABD42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FFFFFF"/>
                </a:solidFill>
                <a:latin typeface="Calibri"/>
                <a:ea typeface="Calibri"/>
              </a:rPr>
              <a:t>WHAT SCORES WELL</a:t>
            </a:r>
            <a:endParaRPr lang="en-US" sz="11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7" name="Strength 1"/>
          <p:cNvSpPr/>
          <p:nvPr/>
        </p:nvSpPr>
        <p:spPr>
          <a:xfrm>
            <a:off x="896112" y="2240280"/>
            <a:ext cx="4709160" cy="47548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300">
                <a:solidFill>
                  <a:srgbClr val="0F2744"/>
                </a:solidFill>
                <a:latin typeface="Calibri"/>
                <a:ea typeface="Calibri"/>
              </a:rPr>
              <a:t>Problem clarity: voice-first e-commerce assistant</a:t>
            </a:r>
            <a:endParaRPr lang="en-US" sz="13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8" name="Strength 2"/>
          <p:cNvSpPr/>
          <p:nvPr/>
        </p:nvSpPr>
        <p:spPr>
          <a:xfrm>
            <a:off x="896112" y="2990088"/>
            <a:ext cx="4709160" cy="475488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300">
                <a:solidFill>
                  <a:srgbClr val="0F2744"/>
                </a:solidFill>
                <a:latin typeface="Calibri"/>
                <a:ea typeface="Calibri"/>
              </a:rPr>
              <a:t>Technical depth: frontend, backend, AI, auth, persistence</a:t>
            </a:r>
            <a:endParaRPr lang="en-US" sz="13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9" name="Strength 3"/>
          <p:cNvSpPr/>
          <p:nvPr/>
        </p:nvSpPr>
        <p:spPr>
          <a:xfrm>
            <a:off x="896112" y="3739896"/>
            <a:ext cx="4709160" cy="475488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300">
                <a:solidFill>
                  <a:srgbClr val="0F2744"/>
                </a:solidFill>
                <a:latin typeface="Calibri"/>
                <a:ea typeface="Calibri"/>
              </a:rPr>
              <a:t>Demo value: visible UI plus search-cart-checkout workflow</a:t>
            </a:r>
            <a:endParaRPr lang="en-US" sz="13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0" name="Strength 4"/>
          <p:cNvSpPr/>
          <p:nvPr/>
        </p:nvSpPr>
        <p:spPr>
          <a:xfrm>
            <a:off x="896112" y="4489704"/>
            <a:ext cx="4709160" cy="475488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300">
                <a:solidFill>
                  <a:srgbClr val="0F2744"/>
                </a:solidFill>
                <a:latin typeface="Calibri"/>
                <a:ea typeface="Calibri"/>
              </a:rPr>
              <a:t>Academic alignment: domain, API use, model awareness, presentation evidence</a:t>
            </a:r>
            <a:endParaRPr lang="en-US" sz="13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1" name="Gaps Label"/>
          <p:cNvSpPr/>
          <p:nvPr/>
        </p:nvSpPr>
        <p:spPr>
          <a:xfrm>
            <a:off x="6355080" y="1700784"/>
            <a:ext cx="1234440" cy="365760"/>
          </a:xfrm>
          <a:prstGeom prst="roundRect">
            <a:avLst/>
          </a:prstGeom>
          <a:solidFill>
            <a:srgbClr val="F4C145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120" b="1">
                <a:solidFill>
                  <a:srgbClr val="0F2744"/>
                </a:solidFill>
                <a:latin typeface="Calibri"/>
                <a:ea typeface="Calibri"/>
              </a:rPr>
              <a:t>FIX NEXT</a:t>
            </a:r>
            <a:endParaRPr lang="en-US" sz="1120" b="1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2" name="Gap 1"/>
          <p:cNvSpPr/>
          <p:nvPr/>
        </p:nvSpPr>
        <p:spPr>
          <a:xfrm>
            <a:off x="6400800" y="2240280"/>
            <a:ext cx="4297680" cy="475488"/>
          </a:xfrm>
          <a:prstGeom prst="roundRect">
            <a:avLst/>
          </a:prstGeom>
          <a:solidFill>
            <a:srgbClr val="FCEFE8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300">
                <a:solidFill>
                  <a:srgbClr val="0F2744"/>
                </a:solidFill>
                <a:latin typeface="Calibri"/>
                <a:ea typeface="Calibri"/>
              </a:rPr>
              <a:t>Sanitize env example files before submission</a:t>
            </a:r>
            <a:endParaRPr lang="en-US" sz="13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3" name="Gap 2"/>
          <p:cNvSpPr/>
          <p:nvPr/>
        </p:nvSpPr>
        <p:spPr>
          <a:xfrm>
            <a:off x="6400800" y="2990088"/>
            <a:ext cx="4297680" cy="475488"/>
          </a:xfrm>
          <a:prstGeom prst="roundRect">
            <a:avLst/>
          </a:prstGeom>
          <a:solidFill>
            <a:srgbClr val="FFF7E2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300">
                <a:solidFill>
                  <a:srgbClr val="0F2744"/>
                </a:solidFill>
                <a:latin typeface="Calibri"/>
                <a:ea typeface="Calibri"/>
              </a:rPr>
              <a:t>Align port docs with actual runtime defaults</a:t>
            </a:r>
            <a:endParaRPr lang="en-US" sz="13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4" name="Gap 3"/>
          <p:cNvSpPr/>
          <p:nvPr/>
        </p:nvSpPr>
        <p:spPr>
          <a:xfrm>
            <a:off x="6400800" y="3739896"/>
            <a:ext cx="4297680" cy="475488"/>
          </a:xfrm>
          <a:prstGeom prst="roundRect">
            <a:avLst/>
          </a:prstGeom>
          <a:solidFill>
            <a:srgbClr val="FCEFE8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300">
                <a:solidFill>
                  <a:srgbClr val="0F2744"/>
                </a:solidFill>
                <a:latin typeface="Calibri"/>
                <a:ea typeface="Calibri"/>
              </a:rPr>
              <a:t>Add baseline automated tests for parser, cart, and APIs</a:t>
            </a:r>
            <a:endParaRPr lang="en-US" sz="13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5" name="Gap 4"/>
          <p:cNvSpPr/>
          <p:nvPr/>
        </p:nvSpPr>
        <p:spPr>
          <a:xfrm>
            <a:off x="6400800" y="4489704"/>
            <a:ext cx="4297680" cy="475488"/>
          </a:xfrm>
          <a:prstGeom prst="roundRect">
            <a:avLst/>
          </a:prstGeom>
          <a:solidFill>
            <a:srgbClr val="FFF7E2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91440" tIns="0" rIns="73152" bIns="0">
            <a:spAutoFit/>
          </a:bodyPr>
          <a:lstStyle/>
          <a:p>
            <a:pPr algn="l">
              <a:buNone/>
            </a:pPr>
            <a:r>
              <a:rPr lang="en-US" sz="1300">
                <a:solidFill>
                  <a:srgbClr val="0F2744"/>
                </a:solidFill>
                <a:latin typeface="Calibri"/>
                <a:ea typeface="Calibri"/>
              </a:rPr>
              <a:t>Prepare one clean end-to-end demo account path</a:t>
            </a:r>
            <a:endParaRPr lang="en-US" sz="1300">
              <a:solidFill>
                <a:srgbClr val="0F2744"/>
              </a:solidFill>
              <a:latin typeface="Calibri"/>
              <a:ea typeface="Calibri"/>
            </a:endParaRPr>
          </a:p>
        </p:txBody>
      </p:sp>
      <p:sp>
        <p:nvSpPr>
          <p:cNvPr id="16" name="Footer"/>
          <p:cNvSpPr txBox="1"/>
          <p:nvPr/>
        </p:nvSpPr>
        <p:spPr>
          <a:xfrm>
            <a:off x="411480" y="6419088"/>
            <a:ext cx="22860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617489"/>
                </a:solidFill>
                <a:latin typeface="Calibri"/>
                <a:ea typeface="Calibri"/>
              </a:rPr>
              <a:t>10  |  Powered Shopping  |  INT428 format</a:t>
            </a:r>
            <a:endParaRPr lang="en-US" sz="1100">
              <a:solidFill>
                <a:srgbClr val="617489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3B6D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/>
          <a:lstStyle/>
          <a:p/>
        </p:txBody>
      </p:sp>
      <p:sp>
        <p:nvSpPr>
          <p:cNvPr id="3" name="Close Label"/>
          <p:cNvSpPr/>
          <p:nvPr/>
        </p:nvSpPr>
        <p:spPr>
          <a:xfrm>
            <a:off x="731520" y="804672"/>
            <a:ext cx="1920240" cy="411480"/>
          </a:xfrm>
          <a:prstGeom prst="roundRect">
            <a:avLst/>
          </a:prstGeom>
          <a:solidFill>
            <a:srgbClr val="F29C38"/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DEMO MESSAGE</a:t>
            </a:r>
            <a:endParaRPr lang="en-US" sz="120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4" name="Close Title"/>
          <p:cNvSpPr txBox="1"/>
          <p:nvPr/>
        </p:nvSpPr>
        <p:spPr>
          <a:xfrm>
            <a:off x="731520" y="1600200"/>
            <a:ext cx="5486400" cy="155448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2650" b="1">
                <a:solidFill>
                  <a:srgbClr val="FFFFFF"/>
                </a:solidFill>
                <a:latin typeface="Calibri Light"/>
                <a:ea typeface="Calibri Light"/>
              </a:rPr>
              <a:t>One storefront,</a:t>
            </a:r>
            <a:endParaRPr lang="en-US" sz="2650" b="1">
              <a:solidFill>
                <a:srgbClr val="FFFFFF"/>
              </a:solidFill>
              <a:latin typeface="Calibri Light"/>
              <a:ea typeface="Calibri Light"/>
            </a:endParaRPr>
          </a:p>
          <a:p>
            <a:pPr algn="l">
              <a:buNone/>
            </a:pPr>
            <a:r>
              <a:rPr lang="en-US" sz="2650" b="1">
                <a:solidFill>
                  <a:srgbClr val="FFFFFF"/>
                </a:solidFill>
                <a:latin typeface="Calibri Light"/>
                <a:ea typeface="Calibri Light"/>
              </a:rPr>
              <a:t>multiple graceful fallbacks.</a:t>
            </a:r>
            <a:endParaRPr lang="en-US" sz="2650" b="1">
              <a:solidFill>
                <a:srgbClr val="FFFFFF"/>
              </a:solidFill>
              <a:latin typeface="Calibri Light"/>
              <a:ea typeface="Calibri Light"/>
            </a:endParaRPr>
          </a:p>
        </p:txBody>
      </p:sp>
      <p:sp>
        <p:nvSpPr>
          <p:cNvPr id="5" name="Close Subtitle"/>
          <p:cNvSpPr txBox="1"/>
          <p:nvPr/>
        </p:nvSpPr>
        <p:spPr>
          <a:xfrm>
            <a:off x="749808" y="3337560"/>
            <a:ext cx="5303520" cy="9144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500">
                <a:solidFill>
                  <a:srgbClr val="DCEAF7"/>
                </a:solidFill>
                <a:latin typeface="Calibri"/>
                <a:ea typeface="Calibri"/>
              </a:rPr>
              <a:t>The strongest story for presentation is simple:</a:t>
            </a:r>
            <a:endParaRPr lang="en-US" sz="1500">
              <a:solidFill>
                <a:srgbClr val="DCEAF7"/>
              </a:solidFill>
              <a:latin typeface="Calibri"/>
              <a:ea typeface="Calibri"/>
            </a:endParaRPr>
          </a:p>
          <a:p>
            <a:pPr algn="l">
              <a:buNone/>
            </a:pPr>
            <a:r>
              <a:rPr lang="en-US" sz="1500">
                <a:solidFill>
                  <a:srgbClr val="DCEAF7"/>
                </a:solidFill>
                <a:latin typeface="Calibri"/>
                <a:ea typeface="Calibri"/>
              </a:rPr>
              <a:t>auth, search, recommendations, cart action, and checkout by voice or text.</a:t>
            </a:r>
            <a:endParaRPr lang="en-US" sz="1500">
              <a:solidFill>
                <a:srgbClr val="DCEAF7"/>
              </a:solidFill>
              <a:latin typeface="Calibri"/>
              <a:ea typeface="Calibri"/>
            </a:endParaRPr>
          </a:p>
        </p:txBody>
      </p:sp>
      <p:sp>
        <p:nvSpPr>
          <p:cNvPr id="6" name="Right Card"/>
          <p:cNvSpPr/>
          <p:nvPr/>
        </p:nvSpPr>
        <p:spPr>
          <a:xfrm>
            <a:off x="7406640" y="1097280"/>
            <a:ext cx="3108960" cy="356616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28000"/>
              </a:srgbClr>
            </a:solidFill>
          </a:ln>
        </p:spPr>
        <p:txBody>
          <a:bodyPr/>
          <a:lstStyle/>
          <a:p/>
        </p:txBody>
      </p:sp>
      <p:sp>
        <p:nvSpPr>
          <p:cNvPr id="7" name="Close Item 1"/>
          <p:cNvSpPr/>
          <p:nvPr/>
        </p:nvSpPr>
        <p:spPr>
          <a:xfrm>
            <a:off x="7726679" y="1463040"/>
            <a:ext cx="2514600" cy="36576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320" b="1">
                <a:solidFill>
                  <a:srgbClr val="FFFFFF"/>
                </a:solidFill>
                <a:latin typeface="Calibri"/>
                <a:ea typeface="Calibri"/>
              </a:rPr>
              <a:t>Q&amp;A</a:t>
            </a:r>
            <a:endParaRPr lang="en-US" sz="1320" b="1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8" name="Close Item 2"/>
          <p:cNvSpPr/>
          <p:nvPr/>
        </p:nvSpPr>
        <p:spPr>
          <a:xfrm>
            <a:off x="7726679" y="2011680"/>
            <a:ext cx="2514600" cy="36576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320">
                <a:solidFill>
                  <a:srgbClr val="FFFFFF"/>
                </a:solidFill>
                <a:latin typeface="Calibri"/>
                <a:ea typeface="Calibri"/>
              </a:rPr>
              <a:t>Project walkthrough</a:t>
            </a:r>
            <a:endParaRPr lang="en-US" sz="1320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9" name="Close Item 3"/>
          <p:cNvSpPr/>
          <p:nvPr/>
        </p:nvSpPr>
        <p:spPr>
          <a:xfrm>
            <a:off x="7726679" y="2560320"/>
            <a:ext cx="2514600" cy="36576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320">
                <a:solidFill>
                  <a:srgbClr val="FFFFFF"/>
                </a:solidFill>
                <a:latin typeface="Calibri"/>
                <a:ea typeface="Calibri"/>
              </a:rPr>
              <a:t>Architecture decisions</a:t>
            </a:r>
            <a:endParaRPr lang="en-US" sz="1320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0" name="Close Item 4"/>
          <p:cNvSpPr/>
          <p:nvPr/>
        </p:nvSpPr>
        <p:spPr>
          <a:xfrm>
            <a:off x="7726679" y="3108960"/>
            <a:ext cx="2514600" cy="36576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320">
                <a:solidFill>
                  <a:srgbClr val="FFFFFF"/>
                </a:solidFill>
                <a:latin typeface="Calibri"/>
                <a:ea typeface="Calibri"/>
              </a:rPr>
              <a:t>Fallback strategy</a:t>
            </a:r>
            <a:endParaRPr lang="en-US" sz="1320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1" name="Close Item 5"/>
          <p:cNvSpPr/>
          <p:nvPr/>
        </p:nvSpPr>
        <p:spPr>
          <a:xfrm>
            <a:off x="7726679" y="3657600"/>
            <a:ext cx="2514600" cy="365760"/>
          </a:xfrm>
          <a:prstGeom prst="round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ctr" lIns="0" tIns="0" rIns="0" bIns="0">
            <a:spAutoFit/>
          </a:bodyPr>
          <a:lstStyle/>
          <a:p>
            <a:pPr algn="ctr">
              <a:buNone/>
            </a:pPr>
            <a:r>
              <a:rPr lang="en-US" sz="1320">
                <a:solidFill>
                  <a:srgbClr val="FFFFFF"/>
                </a:solidFill>
                <a:latin typeface="Calibri"/>
                <a:ea typeface="Calibri"/>
              </a:rPr>
              <a:t>Future improvements</a:t>
            </a:r>
            <a:endParaRPr lang="en-US" sz="1320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2" name="Footer"/>
          <p:cNvSpPr txBox="1"/>
          <p:nvPr/>
        </p:nvSpPr>
        <p:spPr>
          <a:xfrm>
            <a:off x="749808" y="5669280"/>
            <a:ext cx="2743200" cy="237744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>
                <a:solidFill>
                  <a:srgbClr val="DCEAF7"/>
                </a:solidFill>
                <a:latin typeface="Calibri"/>
                <a:ea typeface="Calibri"/>
              </a:rPr>
              <a:t>Powered Shopping | Styled deck generated from project analysis</a:t>
            </a:r>
            <a:endParaRPr lang="en-US" sz="1100">
              <a:solidFill>
                <a:srgbClr val="DCEAF7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 </cp:lastModifiedBy>
  <cp:revision>10</cp:revision>
  <dcterms:created xsi:type="dcterms:W3CDTF">2021-09-15T07:13:00Z</dcterms:created>
  <dcterms:modified xsi:type="dcterms:W3CDTF">2025-07-23T01:00:55Z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FBF1A97A2D1540F9AF712EF434627537_13</vt:lpwstr>
  </property>
</Properties>
</file>